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>
      <p:cViewPr>
        <p:scale>
          <a:sx n="128" d="100"/>
          <a:sy n="128" d="100"/>
        </p:scale>
        <p:origin x="480" y="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FA706E-6B34-582D-B587-71E3EAD272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D5487C7-5DF1-9D03-BB5F-13926FD3E7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035739-A3E5-2396-CF4A-56808CEA3E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11366-A0B1-804D-AA3D-9D085313800E}" type="datetimeFigureOut">
              <a:rPr lang="en-NL" smtClean="0"/>
              <a:t>28/08/2025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657FDC-74AF-AC60-8A66-CCD4DAA07E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EFF094-CBC0-4B76-4275-827006D238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3B3665-6D55-F942-9FB8-5A5117D3C63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6485701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62CAD-1039-50CE-E03C-D79E49F757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F56E87-E0A0-503C-6FB7-961EF683CB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FD4FB0-AD8E-2C32-7F8D-68943EE131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11366-A0B1-804D-AA3D-9D085313800E}" type="datetimeFigureOut">
              <a:rPr lang="en-NL" smtClean="0"/>
              <a:t>28/08/2025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A9D9FC-2D77-3633-2CAA-2B92F18722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4A7762-3548-0A92-2C51-23ECEB275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3B3665-6D55-F942-9FB8-5A5117D3C63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894215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0CC767-EED0-935D-ABA0-9A936AF4D8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B26D81-F320-FF5F-A7AD-F9D157E16B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D63C2C-0D1B-1D6F-9A16-FD43C73BB4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11366-A0B1-804D-AA3D-9D085313800E}" type="datetimeFigureOut">
              <a:rPr lang="en-NL" smtClean="0"/>
              <a:t>28/08/2025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5A6AE8-E36C-0982-7991-11E5DD538C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E76014-2A10-079A-E231-1FD3D5CA4B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3B3665-6D55-F942-9FB8-5A5117D3C63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6901575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C8C104-C286-03BD-5EA4-11BFA475FC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3D5AED-13F0-53D6-6048-04B6013E6D6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123AE7-10D0-80D9-52FA-4AFEE37DD1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F07B4E-EFF9-F9ED-A28A-058983ED8F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11366-A0B1-804D-AA3D-9D085313800E}" type="datetimeFigureOut">
              <a:rPr lang="en-NL" smtClean="0"/>
              <a:t>28/08/2025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38180EF-FC73-2708-5AFF-A3187B88EB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209A54-9CF8-C3BA-CFAA-7E8FD88435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3B3665-6D55-F942-9FB8-5A5117D3C63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265395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ACE49-07CE-7270-DF21-EA8C718C0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39B339-071A-3D22-2978-9CF9D76429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FA11DC-170E-6523-1172-AA370EC3EC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13389E-DED4-EA79-B08E-160FA17C81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4647643-AFA1-8EA5-6FE7-E5CE8AFBCF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3BCBD30-A161-6DE4-12E3-E26DE53600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11366-A0B1-804D-AA3D-9D085313800E}" type="datetimeFigureOut">
              <a:rPr lang="en-NL" smtClean="0"/>
              <a:t>28/08/2025</a:t>
            </a:fld>
            <a:endParaRPr lang="en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4A3AC8-D59D-C6B2-EE1C-60DB4E9876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A5B976-9F2B-49F1-7FCB-12165239DF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3B3665-6D55-F942-9FB8-5A5117D3C63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5799373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8032F8-DE9F-0D53-74D6-D1B2B56A73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C68BE75-B28F-92FA-8DA6-928F16CECE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11366-A0B1-804D-AA3D-9D085313800E}" type="datetimeFigureOut">
              <a:rPr lang="en-NL" smtClean="0"/>
              <a:t>28/08/2025</a:t>
            </a:fld>
            <a:endParaRPr lang="en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C6B69B-78D8-F815-B18B-34D81CB1E5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D6B66D-0446-7E35-5A1E-0A26470B6E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3B3665-6D55-F942-9FB8-5A5117D3C63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6545006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C136F34-CE14-17AB-C7F4-284B0E0B3C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11366-A0B1-804D-AA3D-9D085313800E}" type="datetimeFigureOut">
              <a:rPr lang="en-NL" smtClean="0"/>
              <a:t>28/08/2025</a:t>
            </a:fld>
            <a:endParaRPr lang="en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A0BC7B-966F-10AA-0DD8-0E189694FB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080323-2A37-4F64-30D2-8F6C5296F7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3B3665-6D55-F942-9FB8-5A5117D3C63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8971943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5A479-38DA-F0E7-D4E4-1EFA8404B7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31CF83-FB7B-5D3C-927B-70130FF8CB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C7F80D-C536-99FF-E643-1C116AA70C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FB9E3F-17A2-765B-B457-55A38E810A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11366-A0B1-804D-AA3D-9D085313800E}" type="datetimeFigureOut">
              <a:rPr lang="en-NL" smtClean="0"/>
              <a:t>28/08/2025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028E8B-8346-0984-0B52-87B0D9585E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0877BF-2F17-6324-FB2B-28DD204823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3B3665-6D55-F942-9FB8-5A5117D3C63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1436799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C2D95C-02FB-BB22-FA79-18BD1E7FC9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3C5A8F8-A58A-828B-6F35-A3A5282A89F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EAC34D-66DB-6CED-1985-8BBED7CFDA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6E1F190-7997-8ED7-6A59-B7121CA5FC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11366-A0B1-804D-AA3D-9D085313800E}" type="datetimeFigureOut">
              <a:rPr lang="en-NL" smtClean="0"/>
              <a:t>28/08/2025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9E079F-7ADE-8BAD-D6DD-053A13AAF4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23FAAF-519C-58E7-F58E-39D57E6B69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3B3665-6D55-F942-9FB8-5A5117D3C63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1131834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42DB0-98D4-8AEA-7599-66F6C4E5CF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BC3AF8-4746-0510-2521-832E1F5925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50CBBE-E2F8-B617-2750-746A3786E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11366-A0B1-804D-AA3D-9D085313800E}" type="datetimeFigureOut">
              <a:rPr lang="en-NL" smtClean="0"/>
              <a:t>28/08/2025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DEF1EB-70A6-D146-2F1E-858E51A9DF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7A5985-2269-B0EC-833D-011E871A1F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3B3665-6D55-F942-9FB8-5A5117D3C63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8889062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6180138-8FBF-4D02-8BEB-3F638D78350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73C062-F1B1-5194-F752-298D5C706D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6E5461-5516-826F-42EA-3CFC814018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11366-A0B1-804D-AA3D-9D085313800E}" type="datetimeFigureOut">
              <a:rPr lang="en-NL" smtClean="0"/>
              <a:t>28/08/2025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184252-1B60-4F55-69AB-F904D7599F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4EF504-3F72-E312-4CDE-4EF6C8B0CA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3B3665-6D55-F942-9FB8-5A5117D3C63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8880471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ags" Target="../tags/tag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emf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oleObject" Target="../embeddings/oleObject1.bin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00145447-3478-5946-497D-DE5C1C0B880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3"/>
            </p:custDataLst>
            <p:extLst>
              <p:ext uri="{D42A27DB-BD31-4B8C-83A1-F6EECF244321}">
                <p14:modId xmlns:p14="http://schemas.microsoft.com/office/powerpoint/2010/main" val="348759494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4" imgW="7772400" imgH="10058400" progId="TCLayout.ActiveDocument.1">
                  <p:embed/>
                </p:oleObj>
              </mc:Choice>
              <mc:Fallback>
                <p:oleObj name="think-cell Slide" r:id="rId14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EE65809-F1B9-8DED-C7C6-3C79260CD7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C63802-C291-769D-DB31-EE27007936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D9BC0B-4F08-597B-FCC1-4D2E89E8A0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811366-A0B1-804D-AA3D-9D085313800E}" type="datetimeFigureOut">
              <a:rPr lang="en-NL" smtClean="0"/>
              <a:t>28/08/2025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940E9C-ACD0-798A-16A5-CC6F58811F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34521B-4260-0E8B-08B0-59DE1D4625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B3B3665-6D55-F942-9FB8-5A5117D3C63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0080357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Relationship Id="rId4" Type="http://schemas.openxmlformats.org/officeDocument/2006/relationships/image" Target="../media/image2.emf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Relationship Id="rId4" Type="http://schemas.openxmlformats.org/officeDocument/2006/relationships/image" Target="../media/image3.em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.xml"/><Relationship Id="rId5" Type="http://schemas.openxmlformats.org/officeDocument/2006/relationships/image" Target="../media/image4.png"/><Relationship Id="rId4" Type="http://schemas.openxmlformats.org/officeDocument/2006/relationships/image" Target="../media/image3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Relationship Id="rId5" Type="http://schemas.openxmlformats.org/officeDocument/2006/relationships/image" Target="../media/image5.png"/><Relationship Id="rId4" Type="http://schemas.openxmlformats.org/officeDocument/2006/relationships/image" Target="../media/image3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.xml"/><Relationship Id="rId5" Type="http://schemas.openxmlformats.org/officeDocument/2006/relationships/image" Target="../media/image6.png"/><Relationship Id="rId4" Type="http://schemas.openxmlformats.org/officeDocument/2006/relationships/image" Target="../media/image3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.xml"/><Relationship Id="rId5" Type="http://schemas.openxmlformats.org/officeDocument/2006/relationships/image" Target="../media/image11.png"/><Relationship Id="rId4" Type="http://schemas.openxmlformats.org/officeDocument/2006/relationships/image" Target="../media/image10.em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.xml"/><Relationship Id="rId5" Type="http://schemas.openxmlformats.org/officeDocument/2006/relationships/image" Target="../media/image13.png"/><Relationship Id="rId4" Type="http://schemas.openxmlformats.org/officeDocument/2006/relationships/image" Target="../media/image12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9B87D984-ACC1-E314-13B9-BE9E40163A4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22276027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AAD6FC98-5E05-639C-BB99-9F23A12AD88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en-NL" dirty="0"/>
              <a:t>MODE Lab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6C7F8EE-42D7-FD85-94A5-9EEBC3817C0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NL" dirty="0"/>
              <a:t>Freek Hens 28-08-2025</a:t>
            </a:r>
          </a:p>
        </p:txBody>
      </p:sp>
    </p:spTree>
    <p:extLst>
      <p:ext uri="{BB962C8B-B14F-4D97-AF65-F5344CB8AC3E}">
        <p14:creationId xmlns:p14="http://schemas.microsoft.com/office/powerpoint/2010/main" val="6376908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9A75CBC5-381D-0E31-39E7-DB7F8B00991F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37128572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85615217-22D2-5634-160D-D1E133BCBE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>
            <a:normAutofit/>
          </a:bodyPr>
          <a:lstStyle/>
          <a:p>
            <a:r>
              <a:rPr lang="en-NL" sz="1400" dirty="0"/>
              <a:t>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B0368A-61E0-27FD-6B92-795ADCB007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NL" sz="1200" dirty="0"/>
              <a:t>All rock, paper, scissor data -&gt; </a:t>
            </a:r>
            <a:r>
              <a:rPr lang="en-GB" sz="1000" b="0" i="0" dirty="0" err="1">
                <a:effectLst/>
                <a:latin typeface="Fira Code" pitchFamily="49" charset="0"/>
              </a:rPr>
              <a:t>torch.Size</a:t>
            </a:r>
            <a:r>
              <a:rPr lang="en-GB" sz="1000" b="0" i="0" dirty="0">
                <a:effectLst/>
                <a:latin typeface="Fira Code" pitchFamily="49" charset="0"/>
              </a:rPr>
              <a:t>([296, 1, 8, 400]) </a:t>
            </a:r>
            <a:endParaRPr lang="en-NL" sz="1200" dirty="0"/>
          </a:p>
          <a:p>
            <a:r>
              <a:rPr lang="en-NL" sz="1200" dirty="0"/>
              <a:t>Extract 9 features for each of the 8 channels and flatten -&gt; </a:t>
            </a:r>
            <a:r>
              <a:rPr lang="en-NL" sz="1000" b="0" i="0" dirty="0">
                <a:effectLst/>
                <a:latin typeface="Fira Code" pitchFamily="49" charset="0"/>
              </a:rPr>
              <a:t>(296, 72)</a:t>
            </a:r>
          </a:p>
          <a:p>
            <a:endParaRPr lang="en-NL" sz="1200" b="0" i="0" dirty="0">
              <a:effectLst/>
              <a:latin typeface="Fira Code" pitchFamily="49" charset="0"/>
            </a:endParaRPr>
          </a:p>
          <a:p>
            <a:pPr marL="0" indent="0">
              <a:buNone/>
            </a:pPr>
            <a:endParaRPr lang="en-NL" sz="1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1D6A13-EEA9-7E7E-5204-DF49D09FEA04}"/>
              </a:ext>
            </a:extLst>
          </p:cNvPr>
          <p:cNvSpPr txBox="1"/>
          <p:nvPr/>
        </p:nvSpPr>
        <p:spPr>
          <a:xfrm>
            <a:off x="2471184" y="2612220"/>
            <a:ext cx="3681523" cy="20915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50"/>
              </a:lnSpc>
              <a:buNone/>
            </a:pPr>
            <a:r>
              <a:rPr lang="en-GB" sz="1400" b="0" dirty="0">
                <a:effectLst/>
                <a:latin typeface="Fira Code" pitchFamily="49" charset="0"/>
              </a:rPr>
              <a:t>feats</a:t>
            </a:r>
            <a:r>
              <a:rPr lang="en-GB" sz="1400" b="0" dirty="0">
                <a:solidFill>
                  <a:srgbClr val="D7D7D7"/>
                </a:solidFill>
                <a:effectLst/>
                <a:latin typeface="Fira Code" pitchFamily="49" charset="0"/>
              </a:rPr>
              <a:t> </a:t>
            </a:r>
            <a:r>
              <a:rPr lang="en-GB" sz="1400" b="0" dirty="0">
                <a:solidFill>
                  <a:srgbClr val="FB7DA7"/>
                </a:solidFill>
                <a:effectLst/>
                <a:latin typeface="Fira Code" pitchFamily="49" charset="0"/>
              </a:rPr>
              <a:t>=</a:t>
            </a:r>
            <a:r>
              <a:rPr lang="en-GB" sz="1400" b="0" dirty="0">
                <a:solidFill>
                  <a:srgbClr val="D7D7D7"/>
                </a:solidFill>
                <a:effectLst/>
                <a:latin typeface="Fira Code" pitchFamily="49" charset="0"/>
              </a:rPr>
              <a:t> </a:t>
            </a:r>
            <a:r>
              <a:rPr lang="en-GB" sz="1400" b="0" dirty="0">
                <a:solidFill>
                  <a:srgbClr val="88898F"/>
                </a:solidFill>
                <a:effectLst/>
                <a:latin typeface="Fira Code" pitchFamily="49" charset="0"/>
              </a:rPr>
              <a:t>[</a:t>
            </a:r>
            <a:endParaRPr lang="en-GB" sz="1400" b="0" dirty="0">
              <a:solidFill>
                <a:srgbClr val="D7D7D7"/>
              </a:solidFill>
              <a:effectLst/>
              <a:latin typeface="Fira Code" pitchFamily="49" charset="0"/>
            </a:endParaRPr>
          </a:p>
          <a:p>
            <a:pPr lvl="1">
              <a:lnSpc>
                <a:spcPts val="1350"/>
              </a:lnSpc>
            </a:pPr>
            <a:r>
              <a:rPr lang="en-GB" sz="1400" b="0" dirty="0">
                <a:solidFill>
                  <a:srgbClr val="76C5A4"/>
                </a:solidFill>
                <a:effectLst/>
                <a:latin typeface="Fira Code" pitchFamily="49" charset="0"/>
              </a:rPr>
              <a:t>rms</a:t>
            </a:r>
            <a:r>
              <a:rPr lang="en-GB" sz="1400" b="0" dirty="0">
                <a:solidFill>
                  <a:srgbClr val="88898F"/>
                </a:solidFill>
                <a:effectLst/>
                <a:latin typeface="Fira Code" pitchFamily="49" charset="0"/>
              </a:rPr>
              <a:t>(</a:t>
            </a:r>
            <a:r>
              <a:rPr lang="en-GB" sz="1400" b="0" dirty="0">
                <a:effectLst/>
                <a:latin typeface="Fira Code" pitchFamily="49" charset="0"/>
              </a:rPr>
              <a:t>sig</a:t>
            </a:r>
            <a:r>
              <a:rPr lang="en-GB" sz="1400" b="0" dirty="0">
                <a:solidFill>
                  <a:srgbClr val="88898F"/>
                </a:solidFill>
                <a:effectLst/>
                <a:latin typeface="Fira Code" pitchFamily="49" charset="0"/>
              </a:rPr>
              <a:t>),</a:t>
            </a:r>
            <a:endParaRPr lang="en-GB" sz="1400" b="0" dirty="0">
              <a:solidFill>
                <a:srgbClr val="D7D7D7"/>
              </a:solidFill>
              <a:effectLst/>
              <a:latin typeface="Fira Code" pitchFamily="49" charset="0"/>
            </a:endParaRPr>
          </a:p>
          <a:p>
            <a:pPr lvl="1">
              <a:lnSpc>
                <a:spcPts val="1350"/>
              </a:lnSpc>
            </a:pPr>
            <a:r>
              <a:rPr lang="en-GB" sz="1400" b="0" dirty="0" err="1">
                <a:solidFill>
                  <a:srgbClr val="76C5A4"/>
                </a:solidFill>
                <a:effectLst/>
                <a:latin typeface="Fira Code" pitchFamily="49" charset="0"/>
              </a:rPr>
              <a:t>waveform_length</a:t>
            </a:r>
            <a:r>
              <a:rPr lang="en-GB" sz="1400" b="0" dirty="0">
                <a:solidFill>
                  <a:srgbClr val="88898F"/>
                </a:solidFill>
                <a:effectLst/>
                <a:latin typeface="Fira Code" pitchFamily="49" charset="0"/>
              </a:rPr>
              <a:t>(</a:t>
            </a:r>
            <a:r>
              <a:rPr lang="en-GB" sz="1400" b="0" dirty="0">
                <a:effectLst/>
                <a:latin typeface="Fira Code" pitchFamily="49" charset="0"/>
              </a:rPr>
              <a:t>sig</a:t>
            </a:r>
            <a:r>
              <a:rPr lang="en-GB" sz="1400" b="0" dirty="0">
                <a:solidFill>
                  <a:srgbClr val="88898F"/>
                </a:solidFill>
                <a:effectLst/>
                <a:latin typeface="Fira Code" pitchFamily="49" charset="0"/>
              </a:rPr>
              <a:t>),</a:t>
            </a:r>
            <a:endParaRPr lang="en-GB" sz="1400" b="0" dirty="0">
              <a:solidFill>
                <a:srgbClr val="D7D7D7"/>
              </a:solidFill>
              <a:effectLst/>
              <a:latin typeface="Fira Code" pitchFamily="49" charset="0"/>
            </a:endParaRPr>
          </a:p>
          <a:p>
            <a:pPr lvl="1">
              <a:lnSpc>
                <a:spcPts val="1350"/>
              </a:lnSpc>
            </a:pPr>
            <a:r>
              <a:rPr lang="en-GB" sz="1400" b="0" dirty="0" err="1">
                <a:solidFill>
                  <a:srgbClr val="76C5A4"/>
                </a:solidFill>
                <a:effectLst/>
                <a:latin typeface="Fira Code" pitchFamily="49" charset="0"/>
              </a:rPr>
              <a:t>zero_crossings</a:t>
            </a:r>
            <a:r>
              <a:rPr lang="en-GB" sz="1400" b="0" dirty="0">
                <a:solidFill>
                  <a:srgbClr val="88898F"/>
                </a:solidFill>
                <a:effectLst/>
                <a:latin typeface="Fira Code" pitchFamily="49" charset="0"/>
              </a:rPr>
              <a:t>(</a:t>
            </a:r>
            <a:r>
              <a:rPr lang="en-GB" sz="1400" b="0" dirty="0">
                <a:effectLst/>
                <a:latin typeface="Fira Code" pitchFamily="49" charset="0"/>
              </a:rPr>
              <a:t>sig</a:t>
            </a:r>
            <a:r>
              <a:rPr lang="en-GB" sz="1400" b="0" dirty="0">
                <a:solidFill>
                  <a:srgbClr val="88898F"/>
                </a:solidFill>
                <a:effectLst/>
                <a:latin typeface="Fira Code" pitchFamily="49" charset="0"/>
              </a:rPr>
              <a:t>),</a:t>
            </a:r>
            <a:endParaRPr lang="en-GB" sz="1400" b="0" dirty="0">
              <a:solidFill>
                <a:srgbClr val="D7D7D7"/>
              </a:solidFill>
              <a:effectLst/>
              <a:latin typeface="Fira Code" pitchFamily="49" charset="0"/>
            </a:endParaRPr>
          </a:p>
          <a:p>
            <a:pPr lvl="1">
              <a:lnSpc>
                <a:spcPts val="1350"/>
              </a:lnSpc>
            </a:pPr>
            <a:r>
              <a:rPr lang="en-GB" sz="1400" b="0" dirty="0" err="1">
                <a:solidFill>
                  <a:srgbClr val="76C5A4"/>
                </a:solidFill>
                <a:effectLst/>
                <a:latin typeface="Fira Code" pitchFamily="49" charset="0"/>
              </a:rPr>
              <a:t>slope_sign_changes</a:t>
            </a:r>
            <a:r>
              <a:rPr lang="en-GB" sz="1400" b="0" dirty="0">
                <a:solidFill>
                  <a:srgbClr val="88898F"/>
                </a:solidFill>
                <a:effectLst/>
                <a:latin typeface="Fira Code" pitchFamily="49" charset="0"/>
              </a:rPr>
              <a:t>(</a:t>
            </a:r>
            <a:r>
              <a:rPr lang="en-GB" sz="1400" b="0" dirty="0">
                <a:effectLst/>
                <a:latin typeface="Fira Code" pitchFamily="49" charset="0"/>
              </a:rPr>
              <a:t>sig</a:t>
            </a:r>
            <a:r>
              <a:rPr lang="en-GB" sz="1400" b="0" dirty="0">
                <a:solidFill>
                  <a:srgbClr val="88898F"/>
                </a:solidFill>
                <a:effectLst/>
                <a:latin typeface="Fira Code" pitchFamily="49" charset="0"/>
              </a:rPr>
              <a:t>),</a:t>
            </a:r>
            <a:endParaRPr lang="en-GB" sz="1400" b="0" dirty="0">
              <a:solidFill>
                <a:srgbClr val="D7D7D7"/>
              </a:solidFill>
              <a:effectLst/>
              <a:latin typeface="Fira Code" pitchFamily="49" charset="0"/>
            </a:endParaRPr>
          </a:p>
          <a:p>
            <a:pPr lvl="1">
              <a:lnSpc>
                <a:spcPts val="1350"/>
              </a:lnSpc>
            </a:pPr>
            <a:r>
              <a:rPr lang="en-GB" sz="1400" b="0" dirty="0" err="1">
                <a:solidFill>
                  <a:srgbClr val="76C5A4"/>
                </a:solidFill>
                <a:effectLst/>
                <a:latin typeface="Fira Code" pitchFamily="49" charset="0"/>
              </a:rPr>
              <a:t>median_freq</a:t>
            </a:r>
            <a:r>
              <a:rPr lang="en-GB" sz="1400" b="0" dirty="0">
                <a:solidFill>
                  <a:srgbClr val="88898F"/>
                </a:solidFill>
                <a:effectLst/>
                <a:latin typeface="Fira Code" pitchFamily="49" charset="0"/>
              </a:rPr>
              <a:t>(</a:t>
            </a:r>
            <a:r>
              <a:rPr lang="en-GB" sz="1400" b="0" dirty="0">
                <a:effectLst/>
                <a:latin typeface="Fira Code" pitchFamily="49" charset="0"/>
              </a:rPr>
              <a:t>sig, fs</a:t>
            </a:r>
            <a:r>
              <a:rPr lang="en-GB" sz="1400" b="0" dirty="0">
                <a:solidFill>
                  <a:srgbClr val="88898F"/>
                </a:solidFill>
                <a:effectLst/>
                <a:latin typeface="Fira Code" pitchFamily="49" charset="0"/>
              </a:rPr>
              <a:t>),</a:t>
            </a:r>
            <a:endParaRPr lang="en-GB" sz="1400" b="0" dirty="0">
              <a:solidFill>
                <a:srgbClr val="D7D7D7"/>
              </a:solidFill>
              <a:effectLst/>
              <a:latin typeface="Fira Code" pitchFamily="49" charset="0"/>
            </a:endParaRPr>
          </a:p>
          <a:p>
            <a:pPr lvl="1">
              <a:lnSpc>
                <a:spcPts val="1350"/>
              </a:lnSpc>
            </a:pPr>
            <a:r>
              <a:rPr lang="en-GB" sz="1400" b="0" dirty="0" err="1">
                <a:solidFill>
                  <a:srgbClr val="76C5A4"/>
                </a:solidFill>
                <a:effectLst/>
                <a:latin typeface="Fira Code" pitchFamily="49" charset="0"/>
              </a:rPr>
              <a:t>sample_entropy</a:t>
            </a:r>
            <a:r>
              <a:rPr lang="en-GB" sz="1400" b="0" dirty="0">
                <a:solidFill>
                  <a:srgbClr val="88898F"/>
                </a:solidFill>
                <a:effectLst/>
                <a:latin typeface="Fira Code" pitchFamily="49" charset="0"/>
              </a:rPr>
              <a:t>(</a:t>
            </a:r>
            <a:r>
              <a:rPr lang="en-GB" sz="1400" b="0" dirty="0">
                <a:effectLst/>
                <a:latin typeface="Fira Code" pitchFamily="49" charset="0"/>
              </a:rPr>
              <a:t>sig</a:t>
            </a:r>
            <a:r>
              <a:rPr lang="en-GB" sz="1400" b="0" dirty="0">
                <a:solidFill>
                  <a:srgbClr val="88898F"/>
                </a:solidFill>
                <a:effectLst/>
                <a:latin typeface="Fira Code" pitchFamily="49" charset="0"/>
              </a:rPr>
              <a:t>),</a:t>
            </a:r>
            <a:endParaRPr lang="en-GB" sz="1400" b="0" dirty="0">
              <a:solidFill>
                <a:srgbClr val="D7D7D7"/>
              </a:solidFill>
              <a:effectLst/>
              <a:latin typeface="Fira Code" pitchFamily="49" charset="0"/>
            </a:endParaRPr>
          </a:p>
          <a:p>
            <a:pPr lvl="1">
              <a:lnSpc>
                <a:spcPts val="1350"/>
              </a:lnSpc>
            </a:pPr>
            <a:r>
              <a:rPr lang="en-GB" sz="1400" b="0" dirty="0" err="1">
                <a:solidFill>
                  <a:srgbClr val="76C5A4"/>
                </a:solidFill>
                <a:effectLst/>
                <a:latin typeface="Fira Code" pitchFamily="49" charset="0"/>
              </a:rPr>
              <a:t>shannon_entropy</a:t>
            </a:r>
            <a:r>
              <a:rPr lang="en-GB" sz="1400" b="0" dirty="0">
                <a:solidFill>
                  <a:srgbClr val="88898F"/>
                </a:solidFill>
                <a:effectLst/>
                <a:latin typeface="Fira Code" pitchFamily="49" charset="0"/>
              </a:rPr>
              <a:t>(</a:t>
            </a:r>
            <a:r>
              <a:rPr lang="en-GB" sz="1400" b="0" dirty="0">
                <a:effectLst/>
                <a:latin typeface="Fira Code" pitchFamily="49" charset="0"/>
              </a:rPr>
              <a:t>sig</a:t>
            </a:r>
            <a:r>
              <a:rPr lang="en-GB" sz="1400" b="0" dirty="0">
                <a:solidFill>
                  <a:srgbClr val="88898F"/>
                </a:solidFill>
                <a:effectLst/>
                <a:latin typeface="Fira Code" pitchFamily="49" charset="0"/>
              </a:rPr>
              <a:t>),</a:t>
            </a:r>
            <a:endParaRPr lang="en-GB" sz="1400" b="0" dirty="0">
              <a:solidFill>
                <a:srgbClr val="D7D7D7"/>
              </a:solidFill>
              <a:effectLst/>
              <a:latin typeface="Fira Code" pitchFamily="49" charset="0"/>
            </a:endParaRPr>
          </a:p>
          <a:p>
            <a:pPr lvl="1">
              <a:lnSpc>
                <a:spcPts val="1350"/>
              </a:lnSpc>
            </a:pPr>
            <a:r>
              <a:rPr lang="en-GB" sz="1400" b="0" dirty="0" err="1">
                <a:solidFill>
                  <a:srgbClr val="76C5A4"/>
                </a:solidFill>
                <a:effectLst/>
                <a:latin typeface="Fira Code" pitchFamily="49" charset="0"/>
              </a:rPr>
              <a:t>wavelet_energy</a:t>
            </a:r>
            <a:r>
              <a:rPr lang="en-GB" sz="1400" b="0" dirty="0">
                <a:solidFill>
                  <a:srgbClr val="88898F"/>
                </a:solidFill>
                <a:effectLst/>
                <a:latin typeface="Fira Code" pitchFamily="49" charset="0"/>
              </a:rPr>
              <a:t>(</a:t>
            </a:r>
            <a:r>
              <a:rPr lang="en-GB" sz="1400" b="0" dirty="0">
                <a:effectLst/>
                <a:latin typeface="Fira Code" pitchFamily="49" charset="0"/>
              </a:rPr>
              <a:t>sig</a:t>
            </a:r>
            <a:r>
              <a:rPr lang="en-GB" sz="1400" b="0" dirty="0">
                <a:solidFill>
                  <a:srgbClr val="88898F"/>
                </a:solidFill>
                <a:effectLst/>
                <a:latin typeface="Fira Code" pitchFamily="49" charset="0"/>
              </a:rPr>
              <a:t>),</a:t>
            </a:r>
            <a:endParaRPr lang="en-GB" sz="1400" b="0" dirty="0">
              <a:solidFill>
                <a:srgbClr val="D7D7D7"/>
              </a:solidFill>
              <a:effectLst/>
              <a:latin typeface="Fira Code" pitchFamily="49" charset="0"/>
            </a:endParaRPr>
          </a:p>
          <a:p>
            <a:pPr lvl="1">
              <a:lnSpc>
                <a:spcPts val="1350"/>
              </a:lnSpc>
            </a:pPr>
            <a:r>
              <a:rPr lang="en-GB" sz="1400" b="0" dirty="0" err="1">
                <a:solidFill>
                  <a:srgbClr val="76C5A4"/>
                </a:solidFill>
                <a:effectLst/>
                <a:latin typeface="Fira Code" pitchFamily="49" charset="0"/>
              </a:rPr>
              <a:t>higuchi_fd</a:t>
            </a:r>
            <a:r>
              <a:rPr lang="en-GB" sz="1400" b="0" dirty="0">
                <a:solidFill>
                  <a:srgbClr val="88898F"/>
                </a:solidFill>
                <a:effectLst/>
                <a:latin typeface="Fira Code" pitchFamily="49" charset="0"/>
              </a:rPr>
              <a:t>(</a:t>
            </a:r>
            <a:r>
              <a:rPr lang="en-GB" sz="1400" b="0" dirty="0">
                <a:effectLst/>
                <a:latin typeface="Fira Code" pitchFamily="49" charset="0"/>
              </a:rPr>
              <a:t>sig</a:t>
            </a:r>
            <a:r>
              <a:rPr lang="en-GB" sz="1400" b="0" dirty="0">
                <a:solidFill>
                  <a:srgbClr val="88898F"/>
                </a:solidFill>
                <a:effectLst/>
                <a:latin typeface="Fira Code" pitchFamily="49" charset="0"/>
              </a:rPr>
              <a:t>),</a:t>
            </a:r>
            <a:endParaRPr lang="en-GB" sz="1400" b="0" dirty="0">
              <a:solidFill>
                <a:srgbClr val="D7D7D7"/>
              </a:solidFill>
              <a:effectLst/>
              <a:latin typeface="Fira Code" pitchFamily="49" charset="0"/>
            </a:endParaRPr>
          </a:p>
          <a:p>
            <a:pPr>
              <a:lnSpc>
                <a:spcPts val="1350"/>
              </a:lnSpc>
            </a:pPr>
            <a:r>
              <a:rPr lang="en-GB" sz="1400" b="0" dirty="0">
                <a:solidFill>
                  <a:srgbClr val="88898F"/>
                </a:solidFill>
                <a:effectLst/>
                <a:latin typeface="Fira Code" pitchFamily="49" charset="0"/>
              </a:rPr>
              <a:t>]</a:t>
            </a:r>
            <a:endParaRPr lang="en-GB" sz="1400" b="0" dirty="0">
              <a:solidFill>
                <a:srgbClr val="D7D7D7"/>
              </a:solidFill>
              <a:effectLst/>
              <a:latin typeface="Fira Code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9993E8-A3AD-1F17-6E4A-2EBBDF853F61}"/>
              </a:ext>
            </a:extLst>
          </p:cNvPr>
          <p:cNvSpPr txBox="1"/>
          <p:nvPr/>
        </p:nvSpPr>
        <p:spPr>
          <a:xfrm>
            <a:off x="838200" y="5030355"/>
            <a:ext cx="834124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b="0" i="0" dirty="0">
                <a:effectLst/>
                <a:latin typeface="gg sans"/>
              </a:rPr>
              <a:t>Shannon Entropy, Sample Entropy, Zero Crossings, Waveform Length, RMS, Slope Sign Changes and Fractal Dimension</a:t>
            </a:r>
            <a:endParaRPr lang="en-GB" sz="1200" dirty="0"/>
          </a:p>
        </p:txBody>
      </p:sp>
    </p:spTree>
    <p:extLst>
      <p:ext uri="{BB962C8B-B14F-4D97-AF65-F5344CB8AC3E}">
        <p14:creationId xmlns:p14="http://schemas.microsoft.com/office/powerpoint/2010/main" val="37578064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1F8BBB-A790-F5A0-C307-F6AD646699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99CFC406-C77B-7202-5E7F-94F2AD0B1ABB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48194152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A75CBC5-381D-0E31-39E7-DB7F8B00991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532C4253-4BBD-9590-D14B-BB1E1718E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>
            <a:normAutofit/>
          </a:bodyPr>
          <a:lstStyle/>
          <a:p>
            <a:r>
              <a:rPr lang="en-NL" sz="1400" dirty="0"/>
              <a:t>Fisher scores comparing the three classes in feature space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EB92E4-3417-934A-4260-AE1FE049F9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nl-NL" sz="1200" dirty="0"/>
              <a:t>Rock feature matrix            </a:t>
            </a:r>
            <a:r>
              <a:rPr lang="en-NL" sz="1000" b="0" i="0" dirty="0">
                <a:effectLst/>
                <a:latin typeface="Fira Code" pitchFamily="49" charset="0"/>
              </a:rPr>
              <a:t>(296, 72)</a:t>
            </a:r>
          </a:p>
          <a:p>
            <a:r>
              <a:rPr lang="nl-NL" sz="1200" dirty="0"/>
              <a:t>Paper feature matrix           </a:t>
            </a:r>
            <a:r>
              <a:rPr lang="en-NL" sz="1000" b="0" i="0" dirty="0">
                <a:effectLst/>
                <a:latin typeface="Fira Code" pitchFamily="49" charset="0"/>
              </a:rPr>
              <a:t>(296, 72)</a:t>
            </a:r>
          </a:p>
          <a:p>
            <a:r>
              <a:rPr lang="nl-NL" sz="1200" dirty="0" err="1"/>
              <a:t>Scissor</a:t>
            </a:r>
            <a:r>
              <a:rPr lang="nl-NL" sz="1200" dirty="0"/>
              <a:t> feature matrix        </a:t>
            </a:r>
            <a:r>
              <a:rPr lang="en-NL" sz="1000" b="0" i="0" dirty="0">
                <a:effectLst/>
                <a:latin typeface="Fira Code" pitchFamily="49" charset="0"/>
              </a:rPr>
              <a:t>(296, 72)</a:t>
            </a:r>
          </a:p>
          <a:p>
            <a:endParaRPr lang="en-NL" sz="1000" b="0" i="0" dirty="0">
              <a:effectLst/>
              <a:latin typeface="Fira Code" pitchFamily="49" charset="0"/>
            </a:endParaRPr>
          </a:p>
          <a:p>
            <a:endParaRPr lang="en-NL" sz="1200" b="0" i="0" dirty="0">
              <a:effectLst/>
              <a:latin typeface="Fira Code" pitchFamily="49" charset="0"/>
            </a:endParaRPr>
          </a:p>
          <a:p>
            <a:pPr marL="0" indent="0">
              <a:buNone/>
            </a:pPr>
            <a:endParaRPr lang="en-NL" sz="12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CAE1CDA-B392-6862-7909-0DFA2FE7BEE5}"/>
              </a:ext>
            </a:extLst>
          </p:cNvPr>
          <p:cNvSpPr txBox="1"/>
          <p:nvPr/>
        </p:nvSpPr>
        <p:spPr>
          <a:xfrm>
            <a:off x="838200" y="3242391"/>
            <a:ext cx="5116033" cy="13503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50"/>
              </a:lnSpc>
              <a:buNone/>
            </a:pPr>
            <a:r>
              <a:rPr lang="en-GB" sz="1200" b="0" i="1" dirty="0">
                <a:solidFill>
                  <a:srgbClr val="51C7DA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def</a:t>
            </a:r>
            <a:r>
              <a:rPr lang="en-GB" sz="1200" b="0" dirty="0">
                <a:solidFill>
                  <a:srgbClr val="D7D7D7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 </a:t>
            </a:r>
            <a:r>
              <a:rPr lang="en-GB" sz="1200" b="0" dirty="0" err="1">
                <a:solidFill>
                  <a:srgbClr val="76C5A4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compute_fisher_scores</a:t>
            </a:r>
            <a:r>
              <a:rPr lang="en-GB" sz="1200" b="0" dirty="0">
                <a:solidFill>
                  <a:srgbClr val="88898F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(</a:t>
            </a:r>
            <a:r>
              <a:rPr lang="en-GB" sz="1200" b="0" i="1" dirty="0">
                <a:solidFill>
                  <a:srgbClr val="FDAD5D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data1</a:t>
            </a:r>
            <a:r>
              <a:rPr lang="en-GB" sz="1200" b="0" dirty="0">
                <a:solidFill>
                  <a:srgbClr val="88898F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,</a:t>
            </a:r>
            <a:r>
              <a:rPr lang="en-GB" sz="1200" b="0" dirty="0">
                <a:solidFill>
                  <a:srgbClr val="D7D7D7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 </a:t>
            </a:r>
            <a:r>
              <a:rPr lang="en-GB" sz="1200" b="0" i="1" dirty="0">
                <a:solidFill>
                  <a:srgbClr val="FDAD5D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data2</a:t>
            </a:r>
            <a:r>
              <a:rPr lang="en-GB" sz="1200" b="0" dirty="0">
                <a:solidFill>
                  <a:srgbClr val="88898F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):</a:t>
            </a:r>
            <a:endParaRPr lang="en-GB" sz="1200" b="0" dirty="0">
              <a:solidFill>
                <a:srgbClr val="D7D7D7"/>
              </a:solidFill>
              <a:effectLst/>
              <a:highlight>
                <a:srgbClr val="000000"/>
              </a:highlight>
              <a:latin typeface="Fira Code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GB" sz="1200" b="0" dirty="0">
                <a:solidFill>
                  <a:srgbClr val="D7D7D7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	m1 </a:t>
            </a:r>
            <a:r>
              <a:rPr lang="en-GB" sz="1200" b="0" dirty="0">
                <a:solidFill>
                  <a:srgbClr val="FB7DA7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=</a:t>
            </a:r>
            <a:r>
              <a:rPr lang="en-GB" sz="1200" b="0" dirty="0">
                <a:solidFill>
                  <a:srgbClr val="D7D7D7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 </a:t>
            </a:r>
            <a:r>
              <a:rPr lang="en-GB" sz="1200" b="0" dirty="0" err="1">
                <a:solidFill>
                  <a:srgbClr val="D7D7D7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np</a:t>
            </a:r>
            <a:r>
              <a:rPr lang="en-GB" sz="1200" b="0" dirty="0" err="1">
                <a:solidFill>
                  <a:srgbClr val="88898F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.</a:t>
            </a:r>
            <a:r>
              <a:rPr lang="en-GB" sz="1200" b="0" dirty="0" err="1">
                <a:solidFill>
                  <a:srgbClr val="76C5A4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mean</a:t>
            </a:r>
            <a:r>
              <a:rPr lang="en-GB" sz="1200" b="0" dirty="0">
                <a:solidFill>
                  <a:srgbClr val="88898F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(</a:t>
            </a:r>
            <a:r>
              <a:rPr lang="en-GB" sz="1200" b="0" dirty="0">
                <a:solidFill>
                  <a:srgbClr val="D7D7D7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data1</a:t>
            </a:r>
            <a:r>
              <a:rPr lang="en-GB" sz="1200" b="0" dirty="0">
                <a:solidFill>
                  <a:srgbClr val="88898F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,</a:t>
            </a:r>
            <a:r>
              <a:rPr lang="en-GB" sz="1200" b="0" dirty="0">
                <a:solidFill>
                  <a:srgbClr val="D7D7D7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 </a:t>
            </a:r>
            <a:r>
              <a:rPr lang="en-GB" sz="1200" b="0" i="1" dirty="0">
                <a:solidFill>
                  <a:srgbClr val="FDAD5D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axis</a:t>
            </a:r>
            <a:r>
              <a:rPr lang="en-GB" sz="1200" b="0" dirty="0">
                <a:solidFill>
                  <a:srgbClr val="FB7DA7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=</a:t>
            </a:r>
            <a:r>
              <a:rPr lang="en-GB" sz="1200" b="0" dirty="0">
                <a:solidFill>
                  <a:srgbClr val="AF98E6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0</a:t>
            </a:r>
            <a:r>
              <a:rPr lang="en-GB" sz="1200" b="0" dirty="0">
                <a:solidFill>
                  <a:srgbClr val="88898F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)</a:t>
            </a:r>
            <a:endParaRPr lang="en-GB" sz="1200" b="0" dirty="0">
              <a:solidFill>
                <a:srgbClr val="D7D7D7"/>
              </a:solidFill>
              <a:effectLst/>
              <a:highlight>
                <a:srgbClr val="000000"/>
              </a:highlight>
              <a:latin typeface="Fira Code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GB" sz="1200" b="0" dirty="0">
                <a:solidFill>
                  <a:srgbClr val="D7D7D7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	m2 </a:t>
            </a:r>
            <a:r>
              <a:rPr lang="en-GB" sz="1200" b="0" dirty="0">
                <a:solidFill>
                  <a:srgbClr val="FB7DA7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=</a:t>
            </a:r>
            <a:r>
              <a:rPr lang="en-GB" sz="1200" b="0" dirty="0">
                <a:solidFill>
                  <a:srgbClr val="D7D7D7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 </a:t>
            </a:r>
            <a:r>
              <a:rPr lang="en-GB" sz="1200" b="0" dirty="0" err="1">
                <a:solidFill>
                  <a:srgbClr val="D7D7D7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np</a:t>
            </a:r>
            <a:r>
              <a:rPr lang="en-GB" sz="1200" b="0" dirty="0" err="1">
                <a:solidFill>
                  <a:srgbClr val="88898F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.</a:t>
            </a:r>
            <a:r>
              <a:rPr lang="en-GB" sz="1200" b="0" dirty="0" err="1">
                <a:solidFill>
                  <a:srgbClr val="76C5A4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mean</a:t>
            </a:r>
            <a:r>
              <a:rPr lang="en-GB" sz="1200" b="0" dirty="0">
                <a:solidFill>
                  <a:srgbClr val="88898F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(</a:t>
            </a:r>
            <a:r>
              <a:rPr lang="en-GB" sz="1200" b="0" dirty="0">
                <a:solidFill>
                  <a:srgbClr val="D7D7D7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data2</a:t>
            </a:r>
            <a:r>
              <a:rPr lang="en-GB" sz="1200" b="0" dirty="0">
                <a:solidFill>
                  <a:srgbClr val="88898F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,</a:t>
            </a:r>
            <a:r>
              <a:rPr lang="en-GB" sz="1200" b="0" dirty="0">
                <a:solidFill>
                  <a:srgbClr val="D7D7D7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 </a:t>
            </a:r>
            <a:r>
              <a:rPr lang="en-GB" sz="1200" b="0" i="1" dirty="0">
                <a:solidFill>
                  <a:srgbClr val="FDAD5D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axis</a:t>
            </a:r>
            <a:r>
              <a:rPr lang="en-GB" sz="1200" b="0" dirty="0">
                <a:solidFill>
                  <a:srgbClr val="FB7DA7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=</a:t>
            </a:r>
            <a:r>
              <a:rPr lang="en-GB" sz="1200" b="0" dirty="0">
                <a:solidFill>
                  <a:srgbClr val="AF98E6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0</a:t>
            </a:r>
            <a:r>
              <a:rPr lang="en-GB" sz="1200" b="0" dirty="0">
                <a:solidFill>
                  <a:srgbClr val="88898F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)</a:t>
            </a:r>
            <a:endParaRPr lang="en-GB" sz="1200" b="0" dirty="0">
              <a:solidFill>
                <a:srgbClr val="D7D7D7"/>
              </a:solidFill>
              <a:effectLst/>
              <a:highlight>
                <a:srgbClr val="000000"/>
              </a:highlight>
              <a:latin typeface="Fira Code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GB" sz="1200" b="0" dirty="0">
                <a:solidFill>
                  <a:srgbClr val="D7D7D7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	v1 </a:t>
            </a:r>
            <a:r>
              <a:rPr lang="en-GB" sz="1200" b="0" dirty="0">
                <a:solidFill>
                  <a:srgbClr val="FB7DA7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=</a:t>
            </a:r>
            <a:r>
              <a:rPr lang="en-GB" sz="1200" b="0" dirty="0">
                <a:solidFill>
                  <a:srgbClr val="D7D7D7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 </a:t>
            </a:r>
            <a:r>
              <a:rPr lang="en-GB" sz="1200" b="0" dirty="0" err="1">
                <a:solidFill>
                  <a:srgbClr val="D7D7D7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np</a:t>
            </a:r>
            <a:r>
              <a:rPr lang="en-GB" sz="1200" b="0" dirty="0" err="1">
                <a:solidFill>
                  <a:srgbClr val="88898F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.</a:t>
            </a:r>
            <a:r>
              <a:rPr lang="en-GB" sz="1200" b="0" dirty="0" err="1">
                <a:solidFill>
                  <a:srgbClr val="76C5A4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var</a:t>
            </a:r>
            <a:r>
              <a:rPr lang="en-GB" sz="1200" b="0" dirty="0">
                <a:solidFill>
                  <a:srgbClr val="88898F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(</a:t>
            </a:r>
            <a:r>
              <a:rPr lang="en-GB" sz="1200" b="0" dirty="0">
                <a:solidFill>
                  <a:srgbClr val="D7D7D7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data1</a:t>
            </a:r>
            <a:r>
              <a:rPr lang="en-GB" sz="1200" b="0" dirty="0">
                <a:solidFill>
                  <a:srgbClr val="88898F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,</a:t>
            </a:r>
            <a:r>
              <a:rPr lang="en-GB" sz="1200" b="0" dirty="0">
                <a:solidFill>
                  <a:srgbClr val="D7D7D7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 </a:t>
            </a:r>
            <a:r>
              <a:rPr lang="en-GB" sz="1200" b="0" i="1" dirty="0">
                <a:solidFill>
                  <a:srgbClr val="FDAD5D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axis</a:t>
            </a:r>
            <a:r>
              <a:rPr lang="en-GB" sz="1200" b="0" dirty="0">
                <a:solidFill>
                  <a:srgbClr val="FB7DA7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=</a:t>
            </a:r>
            <a:r>
              <a:rPr lang="en-GB" sz="1200" b="0" dirty="0">
                <a:solidFill>
                  <a:srgbClr val="AF98E6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0</a:t>
            </a:r>
            <a:r>
              <a:rPr lang="en-GB" sz="1200" b="0" dirty="0">
                <a:solidFill>
                  <a:srgbClr val="88898F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,</a:t>
            </a:r>
            <a:r>
              <a:rPr lang="en-GB" sz="1200" b="0" dirty="0">
                <a:solidFill>
                  <a:srgbClr val="D7D7D7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 </a:t>
            </a:r>
            <a:r>
              <a:rPr lang="en-GB" sz="1200" b="0" i="1" dirty="0" err="1">
                <a:solidFill>
                  <a:srgbClr val="FDAD5D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ddof</a:t>
            </a:r>
            <a:r>
              <a:rPr lang="en-GB" sz="1200" b="0" dirty="0">
                <a:solidFill>
                  <a:srgbClr val="FB7DA7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=</a:t>
            </a:r>
            <a:r>
              <a:rPr lang="en-GB" sz="1200" b="0" dirty="0">
                <a:solidFill>
                  <a:srgbClr val="AF98E6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0</a:t>
            </a:r>
            <a:r>
              <a:rPr lang="en-GB" sz="1200" b="0" dirty="0">
                <a:solidFill>
                  <a:srgbClr val="88898F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)</a:t>
            </a:r>
            <a:endParaRPr lang="en-GB" sz="1200" b="0" dirty="0">
              <a:solidFill>
                <a:srgbClr val="D7D7D7"/>
              </a:solidFill>
              <a:effectLst/>
              <a:highlight>
                <a:srgbClr val="000000"/>
              </a:highlight>
              <a:latin typeface="Fira Code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GB" sz="1200" b="0" dirty="0">
                <a:solidFill>
                  <a:srgbClr val="D7D7D7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	v2 </a:t>
            </a:r>
            <a:r>
              <a:rPr lang="en-GB" sz="1200" b="0" dirty="0">
                <a:solidFill>
                  <a:srgbClr val="FB7DA7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=</a:t>
            </a:r>
            <a:r>
              <a:rPr lang="en-GB" sz="1200" b="0" dirty="0">
                <a:solidFill>
                  <a:srgbClr val="D7D7D7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 </a:t>
            </a:r>
            <a:r>
              <a:rPr lang="en-GB" sz="1200" b="0" dirty="0" err="1">
                <a:solidFill>
                  <a:srgbClr val="D7D7D7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np</a:t>
            </a:r>
            <a:r>
              <a:rPr lang="en-GB" sz="1200" b="0" dirty="0" err="1">
                <a:solidFill>
                  <a:srgbClr val="88898F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.</a:t>
            </a:r>
            <a:r>
              <a:rPr lang="en-GB" sz="1200" b="0" dirty="0" err="1">
                <a:solidFill>
                  <a:srgbClr val="76C5A4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var</a:t>
            </a:r>
            <a:r>
              <a:rPr lang="en-GB" sz="1200" b="0" dirty="0">
                <a:solidFill>
                  <a:srgbClr val="88898F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(</a:t>
            </a:r>
            <a:r>
              <a:rPr lang="en-GB" sz="1200" b="0" dirty="0">
                <a:solidFill>
                  <a:srgbClr val="D7D7D7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data2</a:t>
            </a:r>
            <a:r>
              <a:rPr lang="en-GB" sz="1200" b="0" dirty="0">
                <a:solidFill>
                  <a:srgbClr val="88898F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,</a:t>
            </a:r>
            <a:r>
              <a:rPr lang="en-GB" sz="1200" b="0" dirty="0">
                <a:solidFill>
                  <a:srgbClr val="D7D7D7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 </a:t>
            </a:r>
            <a:r>
              <a:rPr lang="en-GB" sz="1200" b="0" i="1" dirty="0">
                <a:solidFill>
                  <a:srgbClr val="FDAD5D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axis</a:t>
            </a:r>
            <a:r>
              <a:rPr lang="en-GB" sz="1200" b="0" dirty="0">
                <a:solidFill>
                  <a:srgbClr val="FB7DA7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=</a:t>
            </a:r>
            <a:r>
              <a:rPr lang="en-GB" sz="1200" b="0" dirty="0">
                <a:solidFill>
                  <a:srgbClr val="AF98E6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0</a:t>
            </a:r>
            <a:r>
              <a:rPr lang="en-GB" sz="1200" b="0" dirty="0">
                <a:solidFill>
                  <a:srgbClr val="88898F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,</a:t>
            </a:r>
            <a:r>
              <a:rPr lang="en-GB" sz="1200" b="0" dirty="0">
                <a:solidFill>
                  <a:srgbClr val="D7D7D7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 </a:t>
            </a:r>
            <a:r>
              <a:rPr lang="en-GB" sz="1200" b="0" i="1" dirty="0" err="1">
                <a:solidFill>
                  <a:srgbClr val="FDAD5D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ddof</a:t>
            </a:r>
            <a:r>
              <a:rPr lang="en-GB" sz="1200" b="0" dirty="0">
                <a:solidFill>
                  <a:srgbClr val="FB7DA7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=</a:t>
            </a:r>
            <a:r>
              <a:rPr lang="en-GB" sz="1200" b="0" dirty="0">
                <a:solidFill>
                  <a:srgbClr val="AF98E6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0</a:t>
            </a:r>
            <a:r>
              <a:rPr lang="en-GB" sz="1200" b="0" dirty="0">
                <a:solidFill>
                  <a:srgbClr val="88898F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)</a:t>
            </a:r>
            <a:endParaRPr lang="en-GB" sz="1200" b="0" dirty="0">
              <a:solidFill>
                <a:srgbClr val="D7D7D7"/>
              </a:solidFill>
              <a:effectLst/>
              <a:highlight>
                <a:srgbClr val="000000"/>
              </a:highlight>
              <a:latin typeface="Fira Code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GB" sz="1200" b="0" dirty="0">
                <a:solidFill>
                  <a:srgbClr val="D7D7D7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	scores </a:t>
            </a:r>
            <a:r>
              <a:rPr lang="en-GB" sz="1200" b="0" dirty="0">
                <a:solidFill>
                  <a:srgbClr val="FB7DA7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=</a:t>
            </a:r>
            <a:r>
              <a:rPr lang="en-GB" sz="1200" b="0" dirty="0">
                <a:solidFill>
                  <a:srgbClr val="D7D7D7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 </a:t>
            </a:r>
            <a:r>
              <a:rPr lang="en-GB" sz="1200" b="0" dirty="0">
                <a:solidFill>
                  <a:srgbClr val="88898F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(</a:t>
            </a:r>
            <a:r>
              <a:rPr lang="en-GB" sz="1200" b="0" dirty="0">
                <a:solidFill>
                  <a:srgbClr val="D7D7D7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m1 </a:t>
            </a:r>
            <a:r>
              <a:rPr lang="en-GB" sz="1200" b="0" dirty="0">
                <a:solidFill>
                  <a:srgbClr val="FB7DA7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-</a:t>
            </a:r>
            <a:r>
              <a:rPr lang="en-GB" sz="1200" b="0" dirty="0">
                <a:solidFill>
                  <a:srgbClr val="D7D7D7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 m2</a:t>
            </a:r>
            <a:r>
              <a:rPr lang="en-GB" sz="1200" b="0" dirty="0">
                <a:solidFill>
                  <a:srgbClr val="88898F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)</a:t>
            </a:r>
            <a:r>
              <a:rPr lang="en-GB" sz="1200" b="0" dirty="0">
                <a:solidFill>
                  <a:srgbClr val="FB7DA7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**</a:t>
            </a:r>
            <a:r>
              <a:rPr lang="en-GB" sz="1200" b="0" dirty="0">
                <a:solidFill>
                  <a:srgbClr val="AF98E6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2</a:t>
            </a:r>
            <a:r>
              <a:rPr lang="en-GB" sz="1200" b="0" dirty="0">
                <a:solidFill>
                  <a:srgbClr val="D7D7D7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 </a:t>
            </a:r>
            <a:r>
              <a:rPr lang="en-GB" sz="1200" b="0" dirty="0">
                <a:solidFill>
                  <a:srgbClr val="FB7DA7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/</a:t>
            </a:r>
            <a:r>
              <a:rPr lang="en-GB" sz="1200" b="0" dirty="0">
                <a:solidFill>
                  <a:srgbClr val="D7D7D7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 </a:t>
            </a:r>
            <a:r>
              <a:rPr lang="en-GB" sz="1200" b="0" dirty="0">
                <a:solidFill>
                  <a:srgbClr val="88898F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(</a:t>
            </a:r>
            <a:r>
              <a:rPr lang="en-GB" sz="1200" b="0" dirty="0">
                <a:solidFill>
                  <a:srgbClr val="D7D7D7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v1 </a:t>
            </a:r>
            <a:r>
              <a:rPr lang="en-GB" sz="1200" b="0" dirty="0">
                <a:solidFill>
                  <a:srgbClr val="FB7DA7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+</a:t>
            </a:r>
            <a:r>
              <a:rPr lang="en-GB" sz="1200" b="0" dirty="0">
                <a:solidFill>
                  <a:srgbClr val="D7D7D7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 v2 </a:t>
            </a:r>
            <a:r>
              <a:rPr lang="en-GB" sz="1200" b="0" dirty="0">
                <a:solidFill>
                  <a:srgbClr val="FB7DA7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+</a:t>
            </a:r>
            <a:r>
              <a:rPr lang="en-GB" sz="1200" b="0" dirty="0">
                <a:solidFill>
                  <a:srgbClr val="D7D7D7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 </a:t>
            </a:r>
            <a:r>
              <a:rPr lang="en-GB" sz="1200" b="0" dirty="0">
                <a:solidFill>
                  <a:srgbClr val="AF98E6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1e-12</a:t>
            </a:r>
            <a:r>
              <a:rPr lang="en-GB" sz="1200" b="0" dirty="0">
                <a:solidFill>
                  <a:srgbClr val="88898F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)</a:t>
            </a:r>
            <a:endParaRPr lang="en-GB" sz="1200" b="0" dirty="0">
              <a:solidFill>
                <a:srgbClr val="D7D7D7"/>
              </a:solidFill>
              <a:effectLst/>
              <a:highlight>
                <a:srgbClr val="000000"/>
              </a:highlight>
              <a:latin typeface="Fira Code" pitchFamily="49" charset="0"/>
            </a:endParaRPr>
          </a:p>
          <a:p>
            <a:pPr>
              <a:lnSpc>
                <a:spcPts val="1350"/>
              </a:lnSpc>
            </a:pPr>
            <a:r>
              <a:rPr lang="en-GB" sz="1200" b="0" dirty="0">
                <a:solidFill>
                  <a:srgbClr val="FB7DA7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	return</a:t>
            </a:r>
            <a:r>
              <a:rPr lang="en-GB" sz="1200" b="0" dirty="0">
                <a:solidFill>
                  <a:srgbClr val="D7D7D7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 </a:t>
            </a:r>
            <a:r>
              <a:rPr lang="en-GB" sz="1200" b="0" dirty="0" err="1">
                <a:solidFill>
                  <a:srgbClr val="D7D7D7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np</a:t>
            </a:r>
            <a:r>
              <a:rPr lang="en-GB" sz="1200" b="0" dirty="0" err="1">
                <a:solidFill>
                  <a:srgbClr val="88898F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.</a:t>
            </a:r>
            <a:r>
              <a:rPr lang="en-GB" sz="1200" b="0" dirty="0" err="1">
                <a:solidFill>
                  <a:srgbClr val="76C5A4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max</a:t>
            </a:r>
            <a:r>
              <a:rPr lang="en-GB" sz="1200" b="0" dirty="0">
                <a:solidFill>
                  <a:srgbClr val="88898F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(</a:t>
            </a:r>
            <a:r>
              <a:rPr lang="en-GB" sz="1200" b="0" dirty="0">
                <a:solidFill>
                  <a:srgbClr val="D7D7D7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scores</a:t>
            </a:r>
            <a:r>
              <a:rPr lang="en-GB" sz="1200" b="0" dirty="0">
                <a:solidFill>
                  <a:srgbClr val="88898F"/>
                </a:solidFill>
                <a:effectLst/>
                <a:highlight>
                  <a:srgbClr val="000000"/>
                </a:highlight>
                <a:latin typeface="Fira Code" pitchFamily="49" charset="0"/>
              </a:rPr>
              <a:t>)</a:t>
            </a:r>
            <a:endParaRPr lang="en-GB" sz="1200" b="0" dirty="0">
              <a:solidFill>
                <a:srgbClr val="D7D7D7"/>
              </a:solidFill>
              <a:effectLst/>
              <a:highlight>
                <a:srgbClr val="000000"/>
              </a:highlight>
              <a:latin typeface="Fira Code" pitchFamily="49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53BA1CC-D861-C90D-4C88-64B45CB97A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6348" y="1229771"/>
            <a:ext cx="5167452" cy="4139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10848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08EDDA-BC81-F736-32FA-C7974369DD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7A1EED93-7128-8E38-A7D1-3EDFB2B31574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88929312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9CFC406-C77B-7202-5E7F-94F2AD0B1AB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0A4A67CC-3492-3EBE-13B3-A2F9B855EE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>
            <a:normAutofit/>
          </a:bodyPr>
          <a:lstStyle/>
          <a:p>
            <a:r>
              <a:rPr lang="en-GB" sz="1400" b="0" dirty="0" err="1">
                <a:effectLst/>
              </a:rPr>
              <a:t>Analyze</a:t>
            </a:r>
            <a:r>
              <a:rPr lang="en-GB" sz="1400" b="0" dirty="0">
                <a:effectLst/>
              </a:rPr>
              <a:t> sensor importance by zeroing out individual sensors and computing Fisher scores</a:t>
            </a:r>
            <a:endParaRPr lang="en-NL" sz="1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8E920B-1507-D5B6-363A-8C411E494E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NL" sz="1200" dirty="0"/>
              <a:t>for x</a:t>
            </a:r>
          </a:p>
          <a:p>
            <a:pPr marL="0" indent="0">
              <a:buNone/>
            </a:pPr>
            <a:r>
              <a:rPr lang="en-NL" sz="1200" dirty="0"/>
              <a:t>     class 1 ablate</a:t>
            </a:r>
          </a:p>
          <a:p>
            <a:pPr marL="0" indent="0">
              <a:buNone/>
            </a:pPr>
            <a:r>
              <a:rPr lang="en-NL" sz="1200" dirty="0"/>
              <a:t>     for y</a:t>
            </a:r>
          </a:p>
          <a:p>
            <a:pPr marL="0" indent="0">
              <a:buNone/>
            </a:pPr>
            <a:r>
              <a:rPr lang="en-NL" sz="1200" dirty="0"/>
              <a:t>               class 2 ablate</a:t>
            </a:r>
          </a:p>
          <a:p>
            <a:pPr marL="0" indent="0">
              <a:buNone/>
            </a:pPr>
            <a:r>
              <a:rPr lang="en-NL" sz="1200" dirty="0"/>
              <a:t>               compute_fisher(class1, class2)</a:t>
            </a:r>
          </a:p>
          <a:p>
            <a:pPr marL="0" indent="0">
              <a:buNone/>
            </a:pPr>
            <a:r>
              <a:rPr lang="en-NL" sz="1200" dirty="0"/>
              <a:t>              </a:t>
            </a:r>
            <a:endParaRPr lang="en-GB" sz="1200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2553D68D-2757-6E3E-F7FD-C8E47E6BC8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07912" y="1547032"/>
            <a:ext cx="5944988" cy="4629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63521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D37420-D806-8A94-2879-2442DFFFFE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85ED015D-BA2D-FF7B-5462-B6B1E074021C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A1EED93-7128-8E38-A7D1-3EDFB2B3157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05DF2A69-6AFC-6788-1510-249305A489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>
            <a:normAutofit/>
          </a:bodyPr>
          <a:lstStyle/>
          <a:p>
            <a:r>
              <a:rPr lang="en-GB" sz="1400" b="0" dirty="0" err="1">
                <a:effectLst/>
              </a:rPr>
              <a:t>Analyze</a:t>
            </a:r>
            <a:r>
              <a:rPr lang="en-GB" sz="1400" b="0" dirty="0">
                <a:effectLst/>
              </a:rPr>
              <a:t> sensor importance by zeroing out individual sensors and computing Fisher scores</a:t>
            </a:r>
            <a:endParaRPr lang="en-NL" sz="1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D0DA34-693A-5451-7986-7144049394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775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NL" sz="1200" dirty="0"/>
              <a:t>for x</a:t>
            </a:r>
          </a:p>
          <a:p>
            <a:pPr marL="0" indent="0">
              <a:buNone/>
            </a:pPr>
            <a:r>
              <a:rPr lang="en-NL" sz="1200" dirty="0"/>
              <a:t>     class 1 ablate</a:t>
            </a:r>
          </a:p>
          <a:p>
            <a:pPr marL="0" indent="0">
              <a:buNone/>
            </a:pPr>
            <a:r>
              <a:rPr lang="en-NL" sz="1200" dirty="0"/>
              <a:t>     for y</a:t>
            </a:r>
          </a:p>
          <a:p>
            <a:pPr marL="0" indent="0">
              <a:buNone/>
            </a:pPr>
            <a:r>
              <a:rPr lang="en-NL" sz="1200" dirty="0"/>
              <a:t>               class 2 ablate</a:t>
            </a:r>
          </a:p>
          <a:p>
            <a:pPr marL="0" indent="0">
              <a:buNone/>
            </a:pPr>
            <a:r>
              <a:rPr lang="en-NL" sz="1200" dirty="0"/>
              <a:t>               compute_fisher(class1, class2)</a:t>
            </a:r>
          </a:p>
          <a:p>
            <a:pPr marL="0" indent="0">
              <a:buNone/>
            </a:pPr>
            <a:r>
              <a:rPr lang="en-NL" sz="1200" dirty="0"/>
              <a:t>             </a:t>
            </a:r>
            <a:endParaRPr lang="en-GB" sz="1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F83E72D-28B1-4B01-DC7A-805D107C90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122" y="3200099"/>
            <a:ext cx="11991755" cy="3657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67130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A2846AAC-68D6-310B-B749-CDD847E436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458956" cy="6858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1540554-F5EC-B122-E395-7949CBB864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0797" y="0"/>
            <a:ext cx="4167361" cy="68580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8B2B5BD-AC61-FC15-DF71-B77E54255B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4601" y="0"/>
            <a:ext cx="41073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0753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5F039973-29D6-9C28-C6BC-9053AB247B4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61729083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0263DB53-CBFB-0707-F743-50B73CA93C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>
            <a:normAutofit/>
          </a:bodyPr>
          <a:lstStyle/>
          <a:p>
            <a:r>
              <a:rPr lang="en-NL" sz="1400" dirty="0"/>
              <a:t>Impact on Fisher score visualized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458BEDA-A913-F6D3-6059-7B8FEB4117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5441" y="1690688"/>
            <a:ext cx="11541117" cy="3806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22147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23645023-6DC0-DBFE-07E6-FBF0B03834C1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807641650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98B5B48D-3046-9768-8D6A-1E2D2F2C70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3963" y="1034791"/>
            <a:ext cx="10244073" cy="4788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6173153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327</Words>
  <Application>Microsoft Macintosh PowerPoint</Application>
  <PresentationFormat>Widescreen</PresentationFormat>
  <Paragraphs>44</Paragraphs>
  <Slides>8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Aptos</vt:lpstr>
      <vt:lpstr>Aptos Display</vt:lpstr>
      <vt:lpstr>Arial</vt:lpstr>
      <vt:lpstr>Fira Code</vt:lpstr>
      <vt:lpstr>gg sans</vt:lpstr>
      <vt:lpstr>Office Theme</vt:lpstr>
      <vt:lpstr>think-cell Slide</vt:lpstr>
      <vt:lpstr>MODE Lab</vt:lpstr>
      <vt:lpstr>Data</vt:lpstr>
      <vt:lpstr>Fisher scores comparing the three classes in feature space</vt:lpstr>
      <vt:lpstr>Analyze sensor importance by zeroing out individual sensors and computing Fisher scores</vt:lpstr>
      <vt:lpstr>Analyze sensor importance by zeroing out individual sensors and computing Fisher scores</vt:lpstr>
      <vt:lpstr>PowerPoint Presentation</vt:lpstr>
      <vt:lpstr>Impact on Fisher score visualized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Hens, F.L.T. (Freek)</dc:creator>
  <cp:lastModifiedBy>Hens, F.L.T. (Freek)</cp:lastModifiedBy>
  <cp:revision>1</cp:revision>
  <dcterms:created xsi:type="dcterms:W3CDTF">2025-08-28T13:57:46Z</dcterms:created>
  <dcterms:modified xsi:type="dcterms:W3CDTF">2025-08-28T14:22:43Z</dcterms:modified>
</cp:coreProperties>
</file>