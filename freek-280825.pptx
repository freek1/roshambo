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7"/>
    <p:restoredTop sz="94651"/>
  </p:normalViewPr>
  <p:slideViewPr>
    <p:cSldViewPr snapToGrid="0">
      <p:cViewPr varScale="1">
        <p:scale>
          <a:sx n="115" d="100"/>
          <a:sy n="115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706E-6B34-582D-B587-71E3EAD27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487C7-5DF1-9D03-BB5F-13926FD3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35739-A3E5-2396-CF4A-56808CEA3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57FDC-74AF-AC60-8A66-CCD4DAA0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FF094-CBC0-4B76-4275-827006D2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8570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62CAD-1039-50CE-E03C-D79E49F7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56E87-E0A0-503C-6FB7-961EF683C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4FB0-AD8E-2C32-7F8D-68943EE13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D9FC-2D77-3633-2CAA-2B92F187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7762-3548-0A92-2C51-23ECEB27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94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C767-EED0-935D-ABA0-9A936AF4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26D81-F320-FF5F-A7AD-F9D157E16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63C2C-0D1B-1D6F-9A16-FD43C73B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A6AE8-E36C-0982-7991-11E5DD53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76014-2A10-079A-E231-1FD3D5CA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015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8C104-C286-03BD-5EA4-11BFA475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D5AED-13F0-53D6-6048-04B6013E6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23AE7-10D0-80D9-52FA-4AFEE37DD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07B4E-EFF9-F9ED-A28A-058983ED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180EF-FC73-2708-5AFF-A3187B88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09A54-9CF8-C3BA-CFAA-7E8FD884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5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CE49-07CE-7270-DF21-EA8C718C0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9B339-071A-3D22-2978-9CF9D7642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A11DC-170E-6523-1172-AA370EC3E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3389E-DED4-EA79-B08E-160FA17C8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47643-AFA1-8EA5-6FE7-E5CE8AFBC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CBD30-A161-6DE4-12E3-E26DE536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A3AC8-D59D-C6B2-EE1C-60DB4E987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5B976-9F2B-49F1-7FCB-12165239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993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32F8-DE9F-0D53-74D6-D1B2B56A7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8BE75-B28F-92FA-8DA6-928F16CE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6B69B-78D8-F815-B18B-34D81CB1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6B66D-0446-7E35-5A1E-0A26470B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450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36F34-CE14-17AB-C7F4-284B0E0B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0BC7B-966F-10AA-0DD8-0E189694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80323-2A37-4F64-30D2-8F6C5296F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719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A479-38DA-F0E7-D4E4-1EFA8404B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CF83-FB7B-5D3C-927B-70130FF8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7F80D-C536-99FF-E643-1C116AA70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B9E3F-17A2-765B-B457-55A38E810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28E8B-8346-0984-0B52-87B0D958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877BF-2F17-6324-FB2B-28DD2048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367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D95C-02FB-BB22-FA79-18BD1E7F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5A8F8-A58A-828B-6F35-A3A5282A89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AC34D-66DB-6CED-1985-8BBED7CFD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1F190-7997-8ED7-6A59-B7121CA5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E079F-7ADE-8BAD-D6DD-053A13AA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3FAAF-519C-58E7-F58E-39D57E6B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318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2DB0-98D4-8AEA-7599-66F6C4E5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C3AF8-4746-0510-2521-832E1F592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0CBBE-E2F8-B617-2750-746A3786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EF1EB-70A6-D146-2F1E-858E51A9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A5985-2269-B0EC-833D-011E871A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8890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80138-8FBF-4D02-8BEB-3F638D783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3C062-F1B1-5194-F752-298D5C706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E5461-5516-826F-42EA-3CFC8140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84252-1B60-4F55-69AB-F904D759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EF504-3F72-E312-4CDE-4EF6C8B0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8804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0145447-3478-5946-497D-DE5C1C0B88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4875949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65809-F1B9-8DED-C7C6-3C79260C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63802-C291-769D-DB31-EE2700793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9BC0B-4F08-597B-FCC1-4D2E89E8A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11366-A0B1-804D-AA3D-9D085313800E}" type="datetimeFigureOut">
              <a:rPr lang="en-NL" smtClean="0"/>
              <a:t>28/08/2025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40E9C-ACD0-798A-16A5-CC6F58811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4521B-4260-0E8B-08B0-59DE1D462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B3665-6D55-F942-9FB8-5A5117D3C63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080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B87D984-ACC1-E314-13B9-BE9E40163A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22760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AD6FC98-5E05-639C-BB99-9F23A12AD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NL" dirty="0"/>
              <a:t>MODE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7F8EE-42D7-FD85-94A5-9EEBC3817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Freek Hens 28-08-2025</a:t>
            </a:r>
          </a:p>
        </p:txBody>
      </p:sp>
    </p:spTree>
    <p:extLst>
      <p:ext uri="{BB962C8B-B14F-4D97-AF65-F5344CB8AC3E}">
        <p14:creationId xmlns:p14="http://schemas.microsoft.com/office/powerpoint/2010/main" val="63769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A75CBC5-381D-0E31-39E7-DB7F8B0099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1285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5615217-22D2-5634-160D-D1E133BC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NL" sz="1400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0368A-61E0-27FD-6B92-795ADCB0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200" dirty="0"/>
              <a:t>All rock, paper, scissor data -&gt; </a:t>
            </a:r>
            <a:r>
              <a:rPr lang="en-GB" sz="1000" b="0" i="0" dirty="0" err="1">
                <a:effectLst/>
                <a:latin typeface="Fira Code" pitchFamily="49" charset="0"/>
              </a:rPr>
              <a:t>torch.Size</a:t>
            </a:r>
            <a:r>
              <a:rPr lang="en-GB" sz="1000" b="0" i="0" dirty="0">
                <a:effectLst/>
                <a:latin typeface="Fira Code" pitchFamily="49" charset="0"/>
              </a:rPr>
              <a:t>([296, 1, 8, 400]) </a:t>
            </a:r>
            <a:endParaRPr lang="en-NL" sz="1200" dirty="0"/>
          </a:p>
          <a:p>
            <a:r>
              <a:rPr lang="en-NL" sz="1200" dirty="0"/>
              <a:t>Extract 9 features for each of the 8 channels and flatten -&gt; </a:t>
            </a:r>
            <a:r>
              <a:rPr lang="en-NL" sz="1000" b="0" i="0" dirty="0">
                <a:effectLst/>
                <a:latin typeface="Fira Code" pitchFamily="49" charset="0"/>
              </a:rPr>
              <a:t>(296, 72)</a:t>
            </a:r>
          </a:p>
          <a:p>
            <a:endParaRPr lang="en-NL" sz="1200" b="0" i="0" dirty="0">
              <a:effectLst/>
              <a:latin typeface="Fira Code" pitchFamily="49" charset="0"/>
            </a:endParaRPr>
          </a:p>
          <a:p>
            <a:pPr marL="0" indent="0">
              <a:buNone/>
            </a:pPr>
            <a:endParaRPr lang="en-NL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D6A13-EEA9-7E7E-5204-DF49D09FEA04}"/>
              </a:ext>
            </a:extLst>
          </p:cNvPr>
          <p:cNvSpPr txBox="1"/>
          <p:nvPr/>
        </p:nvSpPr>
        <p:spPr>
          <a:xfrm>
            <a:off x="2471184" y="2612220"/>
            <a:ext cx="3681523" cy="209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GB" sz="1400" b="0" dirty="0">
                <a:effectLst/>
                <a:latin typeface="Fira Code" pitchFamily="49" charset="0"/>
              </a:rPr>
              <a:t>feats</a:t>
            </a:r>
            <a:r>
              <a:rPr lang="en-GB" sz="1400" b="0" dirty="0">
                <a:solidFill>
                  <a:srgbClr val="D7D7D7"/>
                </a:solidFill>
                <a:effectLst/>
                <a:latin typeface="Fira Code" pitchFamily="49" charset="0"/>
              </a:rPr>
              <a:t> </a:t>
            </a:r>
            <a:r>
              <a:rPr lang="en-GB" sz="1400" b="0" dirty="0">
                <a:solidFill>
                  <a:srgbClr val="FB7DA7"/>
                </a:solidFill>
                <a:effectLst/>
                <a:latin typeface="Fira Code" pitchFamily="49" charset="0"/>
              </a:rPr>
              <a:t>=</a:t>
            </a:r>
            <a:r>
              <a:rPr lang="en-GB" sz="1400" b="0" dirty="0">
                <a:solidFill>
                  <a:srgbClr val="D7D7D7"/>
                </a:solidFill>
                <a:effectLst/>
                <a:latin typeface="Fira Code" pitchFamily="49" charset="0"/>
              </a:rPr>
              <a:t> 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[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>
                <a:solidFill>
                  <a:srgbClr val="76C5A4"/>
                </a:solidFill>
                <a:effectLst/>
                <a:latin typeface="Fira Code" pitchFamily="49" charset="0"/>
              </a:rPr>
              <a:t>rms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waveform_length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zero_crossings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slope_sign_changes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median_freq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sig, fs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sample_entropy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shannon_entropy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wavelet_energy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 lvl="1">
              <a:lnSpc>
                <a:spcPts val="1350"/>
              </a:lnSpc>
            </a:pPr>
            <a:r>
              <a:rPr lang="en-GB" sz="1400" b="0" dirty="0" err="1">
                <a:solidFill>
                  <a:srgbClr val="76C5A4"/>
                </a:solidFill>
                <a:effectLst/>
                <a:latin typeface="Fira Code" pitchFamily="49" charset="0"/>
              </a:rPr>
              <a:t>higuchi_fd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(</a:t>
            </a:r>
            <a:r>
              <a:rPr lang="en-GB" sz="1400" b="0" dirty="0">
                <a:effectLst/>
                <a:latin typeface="Fira Code" pitchFamily="49" charset="0"/>
              </a:rPr>
              <a:t>sig</a:t>
            </a: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),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rgbClr val="88898F"/>
                </a:solidFill>
                <a:effectLst/>
                <a:latin typeface="Fira Code" pitchFamily="49" charset="0"/>
              </a:rPr>
              <a:t>]</a:t>
            </a:r>
            <a:endParaRPr lang="en-GB" sz="1400" b="0" dirty="0">
              <a:solidFill>
                <a:srgbClr val="D7D7D7"/>
              </a:solidFill>
              <a:effectLst/>
              <a:latin typeface="Fira Code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993E8-A3AD-1F17-6E4A-2EBBDF853F61}"/>
              </a:ext>
            </a:extLst>
          </p:cNvPr>
          <p:cNvSpPr txBox="1"/>
          <p:nvPr/>
        </p:nvSpPr>
        <p:spPr>
          <a:xfrm>
            <a:off x="838200" y="5030355"/>
            <a:ext cx="83412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effectLst/>
                <a:latin typeface="gg sans"/>
              </a:rPr>
              <a:t>Shannon Entropy, Sample Entropy, Zero Crossings, Waveform Length, RMS, Slope Sign Changes and Fractal Dimension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5780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8BBB-A790-F5A0-C307-F6AD6466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CFC406-C77B-7202-5E7F-94F2AD0B1A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81941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75CBC5-381D-0E31-39E7-DB7F8B0099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32C4253-4BBD-9590-D14B-BB1E1718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NL" sz="1400" dirty="0"/>
              <a:t>Fisher scores comparing the three classes in feature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92E4-3417-934A-4260-AE1FE049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1200" dirty="0"/>
              <a:t>Rock feature matrix            </a:t>
            </a:r>
            <a:r>
              <a:rPr lang="en-NL" sz="1000" b="0" i="0" dirty="0">
                <a:effectLst/>
                <a:latin typeface="Fira Code" pitchFamily="49" charset="0"/>
              </a:rPr>
              <a:t>(296, 72)</a:t>
            </a:r>
          </a:p>
          <a:p>
            <a:r>
              <a:rPr lang="nl-NL" sz="1200" dirty="0"/>
              <a:t>Paper feature matrix           </a:t>
            </a:r>
            <a:r>
              <a:rPr lang="en-NL" sz="1000" b="0" i="0" dirty="0">
                <a:effectLst/>
                <a:latin typeface="Fira Code" pitchFamily="49" charset="0"/>
              </a:rPr>
              <a:t>(296, 72)</a:t>
            </a:r>
          </a:p>
          <a:p>
            <a:r>
              <a:rPr lang="nl-NL" sz="1200" dirty="0" err="1"/>
              <a:t>Scissor</a:t>
            </a:r>
            <a:r>
              <a:rPr lang="nl-NL" sz="1200" dirty="0"/>
              <a:t> feature matrix        </a:t>
            </a:r>
            <a:r>
              <a:rPr lang="en-NL" sz="1000" b="0" i="0" dirty="0">
                <a:effectLst/>
                <a:latin typeface="Fira Code" pitchFamily="49" charset="0"/>
              </a:rPr>
              <a:t>(296, 72)</a:t>
            </a:r>
          </a:p>
          <a:p>
            <a:endParaRPr lang="en-NL" sz="1000" b="0" i="0" dirty="0">
              <a:effectLst/>
              <a:latin typeface="Fira Code" pitchFamily="49" charset="0"/>
            </a:endParaRPr>
          </a:p>
          <a:p>
            <a:endParaRPr lang="en-NL" sz="1200" b="0" i="0" dirty="0">
              <a:effectLst/>
              <a:latin typeface="Fira Code" pitchFamily="49" charset="0"/>
            </a:endParaRPr>
          </a:p>
          <a:p>
            <a:pPr marL="0" indent="0">
              <a:buNone/>
            </a:pPr>
            <a:endParaRPr lang="en-NL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E1CDA-B392-6862-7909-0DFA2FE7BEE5}"/>
              </a:ext>
            </a:extLst>
          </p:cNvPr>
          <p:cNvSpPr txBox="1"/>
          <p:nvPr/>
        </p:nvSpPr>
        <p:spPr>
          <a:xfrm>
            <a:off x="838200" y="3242391"/>
            <a:ext cx="5116033" cy="1350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GB" sz="1200" b="0" i="1" dirty="0">
                <a:solidFill>
                  <a:srgbClr val="51C7DA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def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 err="1">
                <a:solidFill>
                  <a:srgbClr val="76C5A4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compute_fisher_scores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i="1" dirty="0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data1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data2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):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	m1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 err="1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np</a:t>
            </a:r>
            <a:r>
              <a:rPr lang="en-GB" sz="1200" b="0" dirty="0" err="1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.</a:t>
            </a:r>
            <a:r>
              <a:rPr lang="en-GB" sz="1200" b="0" dirty="0" err="1">
                <a:solidFill>
                  <a:srgbClr val="76C5A4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mean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data1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axis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0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	m2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 err="1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np</a:t>
            </a:r>
            <a:r>
              <a:rPr lang="en-GB" sz="1200" b="0" dirty="0" err="1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.</a:t>
            </a:r>
            <a:r>
              <a:rPr lang="en-GB" sz="1200" b="0" dirty="0" err="1">
                <a:solidFill>
                  <a:srgbClr val="76C5A4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mean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data2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axis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0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	v1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 err="1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np</a:t>
            </a:r>
            <a:r>
              <a:rPr lang="en-GB" sz="1200" b="0" dirty="0" err="1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.</a:t>
            </a:r>
            <a:r>
              <a:rPr lang="en-GB" sz="1200" b="0" dirty="0" err="1">
                <a:solidFill>
                  <a:srgbClr val="76C5A4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var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data1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axis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0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 err="1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ddof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0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	v2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 err="1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np</a:t>
            </a:r>
            <a:r>
              <a:rPr lang="en-GB" sz="1200" b="0" dirty="0" err="1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.</a:t>
            </a:r>
            <a:r>
              <a:rPr lang="en-GB" sz="1200" b="0" dirty="0" err="1">
                <a:solidFill>
                  <a:srgbClr val="76C5A4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var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data2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axis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0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,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i="1" dirty="0" err="1">
                <a:solidFill>
                  <a:srgbClr val="FDAD5D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ddof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0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	scores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=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m1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-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m2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**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2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/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v1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+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v2 </a:t>
            </a: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+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>
                <a:solidFill>
                  <a:srgbClr val="AF98E6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1e-12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FB7DA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	return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 </a:t>
            </a:r>
            <a:r>
              <a:rPr lang="en-GB" sz="1200" b="0" dirty="0" err="1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np</a:t>
            </a:r>
            <a:r>
              <a:rPr lang="en-GB" sz="1200" b="0" dirty="0" err="1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.</a:t>
            </a:r>
            <a:r>
              <a:rPr lang="en-GB" sz="1200" b="0" dirty="0" err="1">
                <a:solidFill>
                  <a:srgbClr val="76C5A4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max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(</a:t>
            </a:r>
            <a:r>
              <a:rPr lang="en-GB" sz="1200" b="0" dirty="0">
                <a:solidFill>
                  <a:srgbClr val="D7D7D7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scores</a:t>
            </a:r>
            <a:r>
              <a:rPr lang="en-GB" sz="1200" b="0" dirty="0">
                <a:solidFill>
                  <a:srgbClr val="88898F"/>
                </a:solidFill>
                <a:effectLst/>
                <a:highlight>
                  <a:srgbClr val="000000"/>
                </a:highlight>
                <a:latin typeface="Fira Code" pitchFamily="49" charset="0"/>
              </a:rPr>
              <a:t>)</a:t>
            </a:r>
            <a:endParaRPr lang="en-GB" sz="1200" b="0" dirty="0">
              <a:solidFill>
                <a:srgbClr val="D7D7D7"/>
              </a:solidFill>
              <a:effectLst/>
              <a:highlight>
                <a:srgbClr val="000000"/>
              </a:highlight>
              <a:latin typeface="Fira Code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3BA1CC-D861-C90D-4C88-64B45CB97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6348" y="1229771"/>
            <a:ext cx="5167452" cy="413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8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8EDDA-BC81-F736-32FA-C7974369D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A1EED93-7128-8E38-A7D1-3EDFB2B315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9293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CFC406-C77B-7202-5E7F-94F2AD0B1A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A4A67CC-3492-3EBE-13B3-A2F9B855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GB" sz="1400" b="0" dirty="0" err="1">
                <a:effectLst/>
              </a:rPr>
              <a:t>Analyze</a:t>
            </a:r>
            <a:r>
              <a:rPr lang="en-GB" sz="1400" b="0" dirty="0">
                <a:effectLst/>
              </a:rPr>
              <a:t> sensor importance by zeroing out individual sensors and computing Fisher scores</a:t>
            </a:r>
            <a:endParaRPr lang="en-NL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E920B-1507-D5B6-363A-8C411E49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L" sz="1200" dirty="0"/>
              <a:t>for x</a:t>
            </a:r>
          </a:p>
          <a:p>
            <a:pPr marL="0" indent="0">
              <a:buNone/>
            </a:pPr>
            <a:r>
              <a:rPr lang="en-NL" sz="1200" dirty="0"/>
              <a:t>     class 1 ablate</a:t>
            </a:r>
          </a:p>
          <a:p>
            <a:pPr marL="0" indent="0">
              <a:buNone/>
            </a:pPr>
            <a:r>
              <a:rPr lang="en-NL" sz="1200" dirty="0"/>
              <a:t>     for y</a:t>
            </a:r>
          </a:p>
          <a:p>
            <a:pPr marL="0" indent="0">
              <a:buNone/>
            </a:pPr>
            <a:r>
              <a:rPr lang="en-NL" sz="1200" dirty="0"/>
              <a:t>               class 2 ablate</a:t>
            </a:r>
          </a:p>
          <a:p>
            <a:pPr marL="0" indent="0">
              <a:buNone/>
            </a:pPr>
            <a:r>
              <a:rPr lang="en-NL" sz="1200" dirty="0"/>
              <a:t>               compute_fisher(class1, class2)</a:t>
            </a:r>
          </a:p>
          <a:p>
            <a:pPr marL="0" indent="0">
              <a:buNone/>
            </a:pPr>
            <a:r>
              <a:rPr lang="en-NL" sz="1200" dirty="0"/>
              <a:t>              </a:t>
            </a:r>
            <a:endParaRPr lang="en-GB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53D68D-2757-6E3E-F7FD-C8E47E6BC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912" y="1547032"/>
            <a:ext cx="5944988" cy="462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5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37420-D806-8A94-2879-2442DFFF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5ED015D-BA2D-FF7B-5462-B6B1E07402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1EED93-7128-8E38-A7D1-3EDFB2B315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5DF2A69-6AFC-6788-1510-249305A48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GB" sz="1400" b="0" dirty="0" err="1">
                <a:effectLst/>
              </a:rPr>
              <a:t>Analyze</a:t>
            </a:r>
            <a:r>
              <a:rPr lang="en-GB" sz="1400" b="0" dirty="0">
                <a:effectLst/>
              </a:rPr>
              <a:t> sensor importance by zeroing out individual sensors and computing Fisher scores</a:t>
            </a:r>
            <a:endParaRPr lang="en-NL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0DA34-693A-5451-7986-714404939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75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1200" dirty="0"/>
              <a:t>for x</a:t>
            </a:r>
          </a:p>
          <a:p>
            <a:pPr marL="0" indent="0">
              <a:buNone/>
            </a:pPr>
            <a:r>
              <a:rPr lang="en-NL" sz="1200" dirty="0"/>
              <a:t>     class 1 ablate</a:t>
            </a:r>
          </a:p>
          <a:p>
            <a:pPr marL="0" indent="0">
              <a:buNone/>
            </a:pPr>
            <a:r>
              <a:rPr lang="en-NL" sz="1200" dirty="0"/>
              <a:t>     for y</a:t>
            </a:r>
          </a:p>
          <a:p>
            <a:pPr marL="0" indent="0">
              <a:buNone/>
            </a:pPr>
            <a:r>
              <a:rPr lang="en-NL" sz="1200" dirty="0"/>
              <a:t>               class 2 ablate</a:t>
            </a:r>
          </a:p>
          <a:p>
            <a:pPr marL="0" indent="0">
              <a:buNone/>
            </a:pPr>
            <a:r>
              <a:rPr lang="en-NL" sz="1200" dirty="0"/>
              <a:t>               compute_fisher(class1, class2)</a:t>
            </a:r>
          </a:p>
          <a:p>
            <a:pPr marL="0" indent="0">
              <a:buNone/>
            </a:pPr>
            <a:r>
              <a:rPr lang="en-NL" sz="1200" dirty="0"/>
              <a:t>             </a:t>
            </a:r>
            <a:endParaRPr lang="en-GB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3E72D-28B1-4B01-DC7A-805D107C90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2" y="3200099"/>
            <a:ext cx="11991755" cy="365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13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846AAC-68D6-310B-B749-CDD847E4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58956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540554-F5EC-B122-E395-7949CBB86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797" y="0"/>
            <a:ext cx="4167361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B2B5BD-AC61-FC15-DF71-B77E54255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601" y="0"/>
            <a:ext cx="4107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F039973-29D6-9C28-C6BC-9053AB247B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17290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63DB53-CBFB-0707-F743-50B73CA9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NL" sz="1400" dirty="0"/>
              <a:t>Impact on Fisher score visualized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8BEDA-A913-F6D3-6059-7B8FEB411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441" y="1690688"/>
            <a:ext cx="11541117" cy="380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1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645023-6DC0-DBFE-07E6-FBF0B03834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76416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8B5B48D-3046-9768-8D6A-1E2D2F2C7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63" y="1034791"/>
            <a:ext cx="10244073" cy="478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731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327</Words>
  <Application>Microsoft Macintosh PowerPoint</Application>
  <PresentationFormat>Widescreen</PresentationFormat>
  <Paragraphs>44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Fira Code</vt:lpstr>
      <vt:lpstr>gg sans</vt:lpstr>
      <vt:lpstr>Office Theme</vt:lpstr>
      <vt:lpstr>think-cell Slide</vt:lpstr>
      <vt:lpstr>MODE Lab</vt:lpstr>
      <vt:lpstr>Data</vt:lpstr>
      <vt:lpstr>Fisher scores comparing the three classes in feature space</vt:lpstr>
      <vt:lpstr>Analyze sensor importance by zeroing out individual sensors and computing Fisher scores</vt:lpstr>
      <vt:lpstr>Analyze sensor importance by zeroing out individual sensors and computing Fisher scores</vt:lpstr>
      <vt:lpstr>PowerPoint Presentation</vt:lpstr>
      <vt:lpstr>Impact on Fisher score visualized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Hens, F.L.T. (Freek)</dc:creator>
  <cp:lastModifiedBy>Hens, F.L.T. (Freek)</cp:lastModifiedBy>
  <cp:revision>1</cp:revision>
  <dcterms:created xsi:type="dcterms:W3CDTF">2025-08-28T13:57:46Z</dcterms:created>
  <dcterms:modified xsi:type="dcterms:W3CDTF">2025-08-28T16:04:52Z</dcterms:modified>
</cp:coreProperties>
</file>